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7315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AB"/>
                </a:solidFill>
                <a:latin typeface="Calibri"/>
              </a:defRPr>
            </a:pPr>
            <a:r>
              <a:t>RANUK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A9ABA"/>
                </a:solidFill>
                <a:latin typeface="Calibri"/>
              </a:defRPr>
            </a:pPr>
            <a:r>
              <a:t>presenta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Calibri"/>
              </a:defRPr>
            </a:pPr>
            <a:r>
              <a:t>GARYCIO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520440"/>
            <a:ext cx="182880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749039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CCDDEE"/>
                </a:solidFill>
                <a:latin typeface="Calibri"/>
              </a:defRPr>
            </a:pPr>
            <a:r>
              <a:t>Sistema de Automatizacion</a:t>
            </a:r>
            <a:br/>
            <a:r>
              <a:t>Logistica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86AB"/>
                </a:solidFill>
                <a:latin typeface="Calibri"/>
              </a:defRPr>
            </a:pPr>
            <a:r>
              <a:t>Propuesta de Desarrollo Tecnologico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743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9ABA"/>
                </a:solidFill>
                <a:latin typeface="Calibri"/>
              </a:defRPr>
            </a:pPr>
            <a:r>
              <a:t>Propuesta para: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GARYCIO S.R.L.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7490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DDEE"/>
                </a:solidFill>
                <a:latin typeface="Calibri"/>
              </a:defRPr>
            </a:pPr>
            <a:r>
              <a:t>Logistica de Recoleccion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114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A9ABA"/>
                </a:solidFill>
                <a:latin typeface="Calibri"/>
              </a:defRPr>
            </a:pPr>
            <a:r>
              <a:t>Buenos Aires, Argentina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5303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AB"/>
                </a:solidFill>
                <a:latin typeface="Calibri"/>
              </a:defRPr>
            </a:pPr>
            <a:r>
              <a:t>Marzo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6019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9ABA"/>
                </a:solidFill>
                <a:latin typeface="Calibri"/>
              </a:defRPr>
            </a:pPr>
            <a:r>
              <a:t>Confidencial  |  Ranuk Development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GARYCIO  |  Ranuk Development  |  Marzo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Situacion Actual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68680"/>
            <a:ext cx="137160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5A6A"/>
                </a:solidFill>
                <a:latin typeface="Calibri"/>
              </a:defRPr>
            </a:pPr>
            <a:r>
              <a:t>Desafios operativos que enfrenta GARYCIO hoy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0292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481328"/>
            <a:ext cx="4992624" cy="4572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3619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⚠  Procesos Manuales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Comunicacion telefonica individual con cada donante</a:t>
            </a:r>
          </a:p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Planillas fisicas para registrar litros y recorridos</a:t>
            </a:r>
          </a:p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Coordinacion de zonas sin herramientas digitales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50292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481328"/>
            <a:ext cx="4992624" cy="4572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53619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🗺  Zonas en Reestructuracion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01168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Nuevas zonas asignadas requieren contacto masivo</a:t>
            </a:r>
          </a:p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Necesidad de identificar donantes activos rapidamente</a:t>
            </a:r>
          </a:p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Reorganizacion de recorridos sin optimizacion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40480"/>
            <a:ext cx="50292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3858768"/>
            <a:ext cx="4992624" cy="4572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9136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📊  Sin Visibilidad de Datos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38912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No hay seguimiento en tiempo real de litros recolectados</a:t>
            </a:r>
          </a:p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Dificultad para medir progreso hacia el objetivo</a:t>
            </a:r>
          </a:p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Informacion dispersa entre planillas y personas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840480"/>
            <a:ext cx="50292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6208" y="3858768"/>
            <a:ext cx="4992624" cy="4572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9136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🎯  Objetivo Ambicioso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38912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Meta: alcanzar 260,000 litros mensuales</a:t>
            </a:r>
          </a:p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Crecimiento requiere escalar operaciones</a:t>
            </a:r>
          </a:p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Necesidad urgente de herramientas tecnologicas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5669280"/>
            <a:ext cx="3200400" cy="59436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5687568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OBJETIVO: 260,000 L/mes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GARYCIO  |  Ranuk Development  |  Marzo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Objetivos del Proyecto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68680"/>
            <a:ext cx="137160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5A6A"/>
                </a:solidFill>
                <a:latin typeface="Calibri"/>
              </a:defRPr>
            </a:pPr>
            <a:r>
              <a:t>Lo que vamos a lograr juntos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10515600" cy="8229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1572768"/>
            <a:ext cx="594360" cy="59436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/>
            </a:pPr>
            <a:r>
              <a:t>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53619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Comunicacion Automatizada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8745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A6A"/>
                </a:solidFill>
                <a:latin typeface="Calibri"/>
              </a:defRPr>
            </a:pPr>
            <a:r>
              <a:t>Contactar y coordinar con donantes via WhatsApp de forma automatica y personalizada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423160"/>
            <a:ext cx="105156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532888"/>
            <a:ext cx="594360" cy="59436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/>
            </a:pPr>
            <a:r>
              <a:t>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49631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Recorridos Optimizados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8346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A6A"/>
                </a:solidFill>
                <a:latin typeface="Calibri"/>
              </a:defRPr>
            </a:pPr>
            <a:r>
              <a:t>Generar rutas de recoleccion eficientes que minimicen tiempo y combustible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383280"/>
            <a:ext cx="10515600" cy="8229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05840" y="3493008"/>
            <a:ext cx="594360" cy="59436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/>
            </a:pPr>
            <a:r>
              <a:t>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345643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Registros Digitales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37947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A6A"/>
                </a:solidFill>
                <a:latin typeface="Calibri"/>
              </a:defRPr>
            </a:pPr>
            <a:r>
              <a:t>Digitalizar litros recolectados, combustible, lavados de tanque y mas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343400"/>
            <a:ext cx="105156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4453128"/>
            <a:ext cx="594360" cy="59436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/>
            </a:pPr>
            <a:r>
              <a:t>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441655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Reclamos Automatizados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475488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A6A"/>
                </a:solidFill>
                <a:latin typeface="Calibri"/>
              </a:defRPr>
            </a:pPr>
            <a:r>
              <a:t>Sistema para que donantes reporten problemas y reciban respuesta inmediata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03520"/>
            <a:ext cx="10515600" cy="8229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5413248"/>
            <a:ext cx="594360" cy="59436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/>
            </a:pPr>
            <a:r>
              <a:t>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537667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Dashboard de Progreso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57150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A6A"/>
                </a:solidFill>
                <a:latin typeface="Calibri"/>
              </a:defRPr>
            </a:pPr>
            <a:r>
              <a:t>Visualizacion en tiempo real del avance hacia los 260,000 litros mensuales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GARYCIO  |  Ranuk Development  |  Marzo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Fase 1 - URGENTE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68680"/>
            <a:ext cx="137160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0" y="274320"/>
            <a:ext cx="4114800" cy="502920"/>
          </a:xfrm>
          <a:prstGeom prst="roundRect">
            <a:avLst/>
          </a:prstGeom>
          <a:solidFill>
            <a:srgbClr val="E88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30175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⏰  DEADLINE: 13 de Abril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5A6A"/>
                </a:solidFill>
                <a:latin typeface="Calibri"/>
              </a:defRPr>
            </a:pPr>
            <a:r>
              <a:t>Funcionalidades criticas para comenzar la operacion en las nuevas zonas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50292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572768"/>
            <a:ext cx="4992624" cy="4572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6276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Bot de WhatsApp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10312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Contacto automatico con donantes: confirma si donan, dias y direccion exacta</a:t>
            </a:r>
          </a:p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Registro de datos y presentacion del servicio</a:t>
            </a:r>
          </a:p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Recoleccion de direccion exacta para reorganizar recorridos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50292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1572768"/>
            <a:ext cx="4992624" cy="4572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6276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Mensajeria Masiva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10312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Envio personalizado a cientos de donantes</a:t>
            </a:r>
          </a:p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Templates aprobados por WhatsApp Business</a:t>
            </a:r>
          </a:p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Seguimiento de respuestas y estado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931920"/>
            <a:ext cx="50292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8" y="3950208"/>
            <a:ext cx="4992624" cy="4572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0050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Recorridos Optimizados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4805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Agrupacion de donantes por zona y dia</a:t>
            </a:r>
          </a:p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Generacion de rutas eficientes para choferes</a:t>
            </a:r>
          </a:p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Consideracion de capacidad de camiones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931920"/>
            <a:ext cx="50292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950208"/>
            <a:ext cx="4992624" cy="4572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0050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Sistema de Reclamos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4805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Reporte de incidentes con alerta inmediata al CEO</a:t>
            </a:r>
          </a:p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Reporte PDF diario a las 19:00 hs con estadisticas</a:t>
            </a:r>
          </a:p>
          <a:p>
            <a:pPr>
              <a:spcAft>
                <a:spcPts val="500"/>
              </a:spcAft>
              <a:defRPr sz="13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Registro de litros, bidones y combustible por chofer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GARYCIO  |  Ranuk Development  |  Marzo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Fase 2 - Sistema Completo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68680"/>
            <a:ext cx="137160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5A6A"/>
                </a:solidFill>
                <a:latin typeface="Calibri"/>
              </a:defRPr>
            </a:pPr>
            <a:r>
              <a:t>Desarrollo post-abril para escalar la operacion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3474720" cy="2194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45920"/>
            <a:ext cx="548640" cy="54864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691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App Movil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7744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A6A"/>
                </a:solidFill>
                <a:latin typeface="Calibri"/>
              </a:defRPr>
            </a:pPr>
            <a:r>
              <a:t>Para choferes y peones:</a:t>
            </a:r>
            <a:br/>
            <a:r>
              <a:t>registro de litros, fotos,</a:t>
            </a:r>
            <a:br/>
            <a:r>
              <a:t>firmas digitales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463040"/>
            <a:ext cx="3474720" cy="2194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54880" y="1645920"/>
            <a:ext cx="548640" cy="54864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1691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Dashboard Web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37744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A6A"/>
                </a:solidFill>
                <a:latin typeface="Calibri"/>
              </a:defRPr>
            </a:pPr>
            <a:r>
              <a:t>Panel de administracion</a:t>
            </a:r>
            <a:br/>
            <a:r>
              <a:t>con metricas en tiempo</a:t>
            </a:r>
            <a:br/>
            <a:r>
              <a:t>real y reportes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1463040"/>
            <a:ext cx="3474720" cy="2194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95360" y="1645920"/>
            <a:ext cx="548640" cy="54864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1691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Gestion de Flota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37744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A6A"/>
                </a:solidFill>
                <a:latin typeface="Calibri"/>
              </a:defRPr>
            </a:pPr>
            <a:r>
              <a:t>Control de combustible,</a:t>
            </a:r>
            <a:br/>
            <a:r>
              <a:t>lavados de tanque,</a:t>
            </a:r>
            <a:br/>
            <a:r>
              <a:t>mantenimiento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931920"/>
            <a:ext cx="3474720" cy="2194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114800"/>
            <a:ext cx="548640" cy="54864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4160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Tracking en Vivo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8463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A6A"/>
                </a:solidFill>
                <a:latin typeface="Calibri"/>
              </a:defRPr>
            </a:pPr>
            <a:r>
              <a:t>Seguimiento GPS de</a:t>
            </a:r>
            <a:br/>
            <a:r>
              <a:t>recorridos y estado</a:t>
            </a:r>
            <a:br/>
            <a:r>
              <a:t>de recoleccion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0" y="3931920"/>
            <a:ext cx="3474720" cy="2194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54880" y="4114800"/>
            <a:ext cx="548640" cy="54864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4160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Gestion de Personal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48463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A6A"/>
                </a:solidFill>
                <a:latin typeface="Calibri"/>
              </a:defRPr>
            </a:pPr>
            <a:r>
              <a:t>Visitadoras, choferes,</a:t>
            </a:r>
            <a:br/>
            <a:r>
              <a:t>peones: asignacion</a:t>
            </a:r>
            <a:br/>
            <a:r>
              <a:t>y rendimiento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3931920"/>
            <a:ext cx="3474720" cy="2194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95360" y="4114800"/>
            <a:ext cx="548640" cy="54864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4160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Barra de Progreso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48463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A6A"/>
                </a:solidFill>
                <a:latin typeface="Calibri"/>
              </a:defRPr>
            </a:pPr>
            <a:r>
              <a:t>Visualizacion del avance</a:t>
            </a:r>
            <a:br/>
            <a:r>
              <a:t>mensual hacia el</a:t>
            </a:r>
            <a:br/>
            <a:r>
              <a:t>objetivo de 260,000L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GARYCIO  |  Ranuk Development  |  Marzo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Arquitectura del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68680"/>
            <a:ext cx="137160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5A6A"/>
                </a:solidFill>
                <a:latin typeface="Calibri"/>
              </a:defRPr>
            </a:pPr>
            <a:r>
              <a:t>Vision simplificada de como funciona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86000"/>
            <a:ext cx="2560320" cy="1645920"/>
          </a:xfrm>
          <a:prstGeom prst="roundRect">
            <a:avLst/>
          </a:prstGeom>
          <a:solidFill>
            <a:srgbClr val="25D366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💬  WhatsApp Bot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Comunicacion</a:t>
            </a:r>
            <a:br/>
            <a:r>
              <a:t>con donantes</a:t>
            </a:r>
            <a:br/>
            <a:r>
              <a:t>Reclamos y avisos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200400" y="2834640"/>
            <a:ext cx="1097280" cy="45720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0" y="1828800"/>
            <a:ext cx="2926080" cy="2560320"/>
          </a:xfrm>
          <a:prstGeom prst="roundRect">
            <a:avLst/>
          </a:prstGeom>
          <a:solidFill>
            <a:srgbClr val="2E86AB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965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⚙  Servidor Central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46888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Logica de negocio</a:t>
            </a:r>
            <a:br/>
            <a:r>
              <a:t>Optimizacion de rutas</a:t>
            </a:r>
            <a:br/>
            <a:r>
              <a:t>Gestion de datos</a:t>
            </a:r>
            <a:br/>
            <a:r>
              <a:t>Notificaciones</a:t>
            </a:r>
            <a:br/>
            <a:r>
              <a:t>Reportes automaticos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589520" y="2834640"/>
            <a:ext cx="1097280" cy="45720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869680" y="2286000"/>
            <a:ext cx="2560320" cy="164592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0" y="24231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🗄  Base de Datos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9260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Donantes, zonas,</a:t>
            </a:r>
            <a:br/>
            <a:r>
              <a:t>recorridos, litros,</a:t>
            </a:r>
            <a:br/>
            <a:r>
              <a:t>reclamos, flota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846320"/>
            <a:ext cx="3200400" cy="11887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4937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B2A4A"/>
                </a:solidFill>
                <a:latin typeface="Calibri"/>
              </a:defRPr>
            </a:pPr>
            <a:r>
              <a:t>🖥  Dashboard Web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349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A5A6A"/>
                </a:solidFill>
                <a:latin typeface="Calibri"/>
              </a:defRPr>
            </a:pPr>
            <a:r>
              <a:t>Panel de administracion y reportes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4846320"/>
            <a:ext cx="3200400" cy="11887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4937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B2A4A"/>
                </a:solidFill>
                <a:latin typeface="Calibri"/>
              </a:defRPr>
            </a:pPr>
            <a:r>
              <a:t>📱  App Movil (Fase 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5349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A5A6A"/>
                </a:solidFill>
                <a:latin typeface="Calibri"/>
              </a:defRPr>
            </a:pPr>
            <a:r>
              <a:t>Para choferes y peones en campo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4846320" y="4434840"/>
            <a:ext cx="365760" cy="457200"/>
          </a:xfrm>
          <a:prstGeom prst="down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6675120" y="4434840"/>
            <a:ext cx="365760" cy="457200"/>
          </a:xfrm>
          <a:prstGeom prst="down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GARYCIO  |  Ranuk Development  |  Marzo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Beneficios para GARYCIO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68680"/>
            <a:ext cx="137160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5A6A"/>
                </a:solidFill>
                <a:latin typeface="Calibri"/>
              </a:defRPr>
            </a:pPr>
            <a:r>
              <a:t>Impacto concreto en la operacion diaria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303520" cy="13716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389888"/>
            <a:ext cx="73152" cy="1335024"/>
          </a:xfrm>
          <a:prstGeom prst="rect">
            <a:avLst/>
          </a:prstGeom>
          <a:solidFill>
            <a:srgbClr val="2EA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1554480"/>
            <a:ext cx="502920" cy="502920"/>
          </a:xfrm>
          <a:prstGeom prst="ellipse">
            <a:avLst/>
          </a:prstGeom>
          <a:solidFill>
            <a:srgbClr val="2EA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B2A4A"/>
                </a:solidFill>
                <a:latin typeface="Calibri"/>
              </a:defRPr>
            </a:pPr>
            <a:r>
              <a:t>Ahorro de Tiempo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92024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A6A"/>
                </a:solidFill>
                <a:latin typeface="Calibri"/>
              </a:defRPr>
            </a:pPr>
            <a:r>
              <a:t>Eliminacion de llamadas manuales a donantes. Comunicacion automatizada por WhatsApp.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371600"/>
            <a:ext cx="5303520" cy="13716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19088" y="1389888"/>
            <a:ext cx="73152" cy="1335024"/>
          </a:xfrm>
          <a:prstGeom prst="rect">
            <a:avLst/>
          </a:prstGeom>
          <a:solidFill>
            <a:srgbClr val="2EA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75120" y="1554480"/>
            <a:ext cx="502920" cy="502920"/>
          </a:xfrm>
          <a:prstGeom prst="ellipse">
            <a:avLst/>
          </a:prstGeom>
          <a:solidFill>
            <a:srgbClr val="2EA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087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B2A4A"/>
                </a:solidFill>
                <a:latin typeface="Calibri"/>
              </a:defRPr>
            </a:pPr>
            <a:r>
              <a:t>Menor Consumo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192024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A6A"/>
                </a:solidFill>
                <a:latin typeface="Calibri"/>
              </a:defRPr>
            </a:pPr>
            <a:r>
              <a:t>Recorridos optimizados que reducen kilometros recorridos y consumo de combustible.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971800"/>
            <a:ext cx="5303520" cy="13716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8" y="2990088"/>
            <a:ext cx="73152" cy="1335024"/>
          </a:xfrm>
          <a:prstGeom prst="rect">
            <a:avLst/>
          </a:prstGeom>
          <a:solidFill>
            <a:srgbClr val="2EA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5840" y="3154680"/>
            <a:ext cx="502920" cy="502920"/>
          </a:xfrm>
          <a:prstGeom prst="ellipse">
            <a:avLst/>
          </a:prstGeom>
          <a:solidFill>
            <a:srgbClr val="2EA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1089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B2A4A"/>
                </a:solidFill>
                <a:latin typeface="Calibri"/>
              </a:defRPr>
            </a:pPr>
            <a:r>
              <a:t>Visibilidad Total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352044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A6A"/>
                </a:solidFill>
                <a:latin typeface="Calibri"/>
              </a:defRPr>
            </a:pPr>
            <a:r>
              <a:t>Progreso de recoleccion en tiempo real. Saber exactamente donde estan respecto a los 260,000L.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971800"/>
            <a:ext cx="5303520" cy="13716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19088" y="2990088"/>
            <a:ext cx="73152" cy="1335024"/>
          </a:xfrm>
          <a:prstGeom prst="rect">
            <a:avLst/>
          </a:prstGeom>
          <a:solidFill>
            <a:srgbClr val="2EA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75120" y="3154680"/>
            <a:ext cx="502920" cy="502920"/>
          </a:xfrm>
          <a:prstGeom prst="ellipse">
            <a:avLst/>
          </a:prstGeom>
          <a:solidFill>
            <a:srgbClr val="2EA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31089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B2A4A"/>
                </a:solidFill>
                <a:latin typeface="Calibri"/>
              </a:defRPr>
            </a:pPr>
            <a:r>
              <a:t>Gestion de Reclamos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352044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A6A"/>
                </a:solidFill>
                <a:latin typeface="Calibri"/>
              </a:defRPr>
            </a:pPr>
            <a:r>
              <a:t>Donantes pueden reportar problemas al instante. Resolucion rapida y trazable.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572000"/>
            <a:ext cx="5303520" cy="13716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808" y="4590288"/>
            <a:ext cx="73152" cy="1335024"/>
          </a:xfrm>
          <a:prstGeom prst="rect">
            <a:avLst/>
          </a:prstGeom>
          <a:solidFill>
            <a:srgbClr val="2EA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05840" y="4754880"/>
            <a:ext cx="502920" cy="502920"/>
          </a:xfrm>
          <a:prstGeom prst="ellipse">
            <a:avLst/>
          </a:prstGeom>
          <a:solidFill>
            <a:srgbClr val="2EA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47091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B2A4A"/>
                </a:solidFill>
                <a:latin typeface="Calibri"/>
              </a:defRPr>
            </a:pPr>
            <a:r>
              <a:t>Decisiones con Datos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512064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A6A"/>
                </a:solidFill>
                <a:latin typeface="Calibri"/>
              </a:defRPr>
            </a:pPr>
            <a:r>
              <a:t>Reportes y metricas para identificar zonas productivas, problemas y oportunidades.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4572000"/>
            <a:ext cx="5303520" cy="13716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19088" y="4590288"/>
            <a:ext cx="73152" cy="1335024"/>
          </a:xfrm>
          <a:prstGeom prst="rect">
            <a:avLst/>
          </a:prstGeom>
          <a:solidFill>
            <a:srgbClr val="2EA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675120" y="4754880"/>
            <a:ext cx="502920" cy="502920"/>
          </a:xfrm>
          <a:prstGeom prst="ellipse">
            <a:avLst/>
          </a:prstGeom>
          <a:solidFill>
            <a:srgbClr val="2EA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47091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B2A4A"/>
                </a:solidFill>
                <a:latin typeface="Calibri"/>
              </a:defRPr>
            </a:pPr>
            <a:r>
              <a:t>Escalabilidad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512064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A6A"/>
                </a:solidFill>
                <a:latin typeface="Calibri"/>
              </a:defRPr>
            </a:pPr>
            <a:r>
              <a:t>Sistema preparado para incorporar nuevas zonas sin aumentar la carga operativa.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GARYCIO  |  Ranuk Development  |  Marzo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Que Necesitamos de Ustedes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68680"/>
            <a:ext cx="137160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5A6A"/>
                </a:solidFill>
                <a:latin typeface="Calibri"/>
              </a:defRPr>
            </a:pPr>
            <a:r>
              <a:t>Informacion y accesos necesarios para arrancar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10515600" cy="8229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1600200"/>
            <a:ext cx="548640" cy="54864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53619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Base de Datos de Donantes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90195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A6A"/>
                </a:solidFill>
                <a:latin typeface="Calibri"/>
              </a:defRPr>
            </a:pPr>
            <a:r>
              <a:t>Numeros de telefono, direcciones EXACTAS (calle, numero, entre calles, piso), zonas y estado de donacion actual.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423160"/>
            <a:ext cx="105156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560320"/>
            <a:ext cx="548640" cy="54864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49631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Informacion de Zonas Nuevas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86207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A6A"/>
                </a:solidFill>
                <a:latin typeface="Calibri"/>
              </a:defRPr>
            </a:pPr>
            <a:r>
              <a:t>Detalle de zonas nuevas: limites, donantes potenciales. Confirmar si estan donando y que dia.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383280"/>
            <a:ext cx="10515600" cy="8229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05840" y="3520440"/>
            <a:ext cx="548640" cy="54864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45643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Datos Operativos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82219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A6A"/>
                </a:solidFill>
                <a:latin typeface="Calibri"/>
              </a:defRPr>
            </a:pPr>
            <a:r>
              <a:t>Informacion de choferes, peones, camiones: nombres, telefonos, zonas de trabajo.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343400"/>
            <a:ext cx="105156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4480560"/>
            <a:ext cx="548640" cy="54864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41655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WhatsApp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78231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A6A"/>
                </a:solidFill>
                <a:latin typeface="Calibri"/>
              </a:defRPr>
            </a:pPr>
            <a:r>
              <a:t>Acceso a un numero de WhatsApp Business (o que gestionemos uno nuevo para GARYCIO).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03520"/>
            <a:ext cx="10515600" cy="8229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5440680"/>
            <a:ext cx="548640" cy="54864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37667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Feedback Continuo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74243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A6A"/>
                </a:solidFill>
                <a:latin typeface="Calibri"/>
              </a:defRPr>
            </a:pPr>
            <a:r>
              <a:t>Disponibilidad para reuniones semanales de 30 min para validar avances y ajustar prioridades.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GARYCIO  |  Ranuk Development  |  Marzo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Cronograma - Fase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68680"/>
            <a:ext cx="137160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5A6A"/>
                </a:solidFill>
                <a:latin typeface="Calibri"/>
              </a:defRPr>
            </a:pPr>
            <a:r>
              <a:t>4 semanas hasta el deadline del 13 de Abril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2651760" cy="82296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SEM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745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EEFF"/>
                </a:solidFill>
                <a:latin typeface="Calibri"/>
              </a:defRPr>
            </a:pPr>
            <a:r>
              <a:t>17 - 23 Marzo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231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2A4A"/>
                </a:solidFill>
                <a:latin typeface="Calibri"/>
              </a:defRPr>
            </a:pPr>
            <a:r>
              <a:t>Bot WhatsApp + Choferes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2651760" cy="2103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01752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Bot con 7 flujos operativos</a:t>
            </a:r>
          </a:p>
          <a:p>
            <a:pPr>
              <a:spcAft>
                <a:spcPts val="600"/>
              </a:spcAft>
              <a:defRPr sz="12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Sistema de choferes e incidentes</a:t>
            </a:r>
          </a:p>
          <a:p>
            <a:pPr>
              <a:spcAft>
                <a:spcPts val="600"/>
              </a:spcAft>
              <a:defRPr sz="12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Reportes PDF diarios automaticos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1463040"/>
            <a:ext cx="2651760" cy="82296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508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SEM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8745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EEFF"/>
                </a:solidFill>
                <a:latin typeface="Calibri"/>
              </a:defRPr>
            </a:pPr>
            <a:r>
              <a:t>24 - 30 Marzo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4231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2A4A"/>
                </a:solidFill>
                <a:latin typeface="Calibri"/>
              </a:defRPr>
            </a:pPr>
            <a:r>
              <a:t>Mensajeria Masiva + Datos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2926080"/>
            <a:ext cx="2651760" cy="2103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301752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Contacto masivo a nuevas zonas</a:t>
            </a:r>
          </a:p>
          <a:p>
            <a:pPr>
              <a:spcAft>
                <a:spcPts val="600"/>
              </a:spcAft>
              <a:defRPr sz="12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Recoleccion de direccion exacta</a:t>
            </a:r>
          </a:p>
          <a:p>
            <a:pPr>
              <a:spcAft>
                <a:spcPts val="600"/>
              </a:spcAft>
              <a:defRPr sz="12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Base de datos + migracion datos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463040"/>
            <a:ext cx="2651760" cy="82296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508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SEM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18745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EEFF"/>
                </a:solidFill>
                <a:latin typeface="Calibri"/>
              </a:defRPr>
            </a:pPr>
            <a:r>
              <a:t>31 Mar - 6 Abril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4231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2A4A"/>
                </a:solidFill>
                <a:latin typeface="Calibri"/>
              </a:defRPr>
            </a:pPr>
            <a:r>
              <a:t>Recorridos + Testing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926080"/>
            <a:ext cx="2651760" cy="2103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01752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Algoritmo de optimizacion de rutas</a:t>
            </a:r>
          </a:p>
          <a:p>
            <a:pPr>
              <a:spcAft>
                <a:spcPts val="600"/>
              </a:spcAft>
              <a:defRPr sz="12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Sistema basico de reclamos</a:t>
            </a:r>
          </a:p>
          <a:p>
            <a:pPr>
              <a:spcAft>
                <a:spcPts val="600"/>
              </a:spcAft>
              <a:defRPr sz="12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Testing con datos reales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98280" y="1463040"/>
            <a:ext cx="2651760" cy="82296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98280" y="1508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SEM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18745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EEFF"/>
                </a:solidFill>
                <a:latin typeface="Calibri"/>
              </a:defRPr>
            </a:pPr>
            <a:r>
              <a:t>7 - 13 Abril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4231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2A4A"/>
                </a:solidFill>
                <a:latin typeface="Calibri"/>
              </a:defRPr>
            </a:pPr>
            <a:r>
              <a:t>Deploy + Capacitacion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98280" y="2926080"/>
            <a:ext cx="2651760" cy="2103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0" y="301752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Testing final con equipo de GARYCIO</a:t>
            </a:r>
          </a:p>
          <a:p>
            <a:pPr>
              <a:spcAft>
                <a:spcPts val="600"/>
              </a:spcAft>
              <a:defRPr sz="12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Deploy en produccion</a:t>
            </a:r>
          </a:p>
          <a:p>
            <a:pPr>
              <a:spcAft>
                <a:spcPts val="600"/>
              </a:spcAft>
              <a:defRPr sz="1200">
                <a:solidFill>
                  <a:srgbClr val="1B2A4A"/>
                </a:solidFill>
                <a:latin typeface="Calibri"/>
              </a:defRPr>
              <a:buChar char="•"/>
              <a:buClr>
                <a:srgbClr val="2E86AB"/>
              </a:buClr>
            </a:pPr>
            <a:r>
              <a:t>Capacitacion de uso del sistema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5486400"/>
            <a:ext cx="10515600" cy="6400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5321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POST-ABRIL:  Inicio de Fase 2 - Sistema Completo (App Movil + Dashboard + Flota)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GARYCIO  |  Ranuk Development  |  Marzo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Inversion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68680"/>
            <a:ext cx="137160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0" y="2011680"/>
            <a:ext cx="6400800" cy="32004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256032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2E86AB"/>
                </a:solidFill>
                <a:latin typeface="Calibri"/>
              </a:defRPr>
            </a:pPr>
            <a:r>
              <a:t>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338328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Calibri"/>
              </a:defRPr>
            </a:pPr>
            <a:r>
              <a:t>Ver documento adjunto de</a:t>
            </a:r>
            <a:br/>
            <a:r>
              <a:t>presupuesto detallado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42062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A5A6A"/>
                </a:solidFill>
                <a:latin typeface="Calibri"/>
              </a:defRPr>
            </a:pPr>
            <a:r>
              <a:t>El presupuesto incluye desglose por fase, costos de infraestructura</a:t>
            </a:r>
            <a:br/>
            <a:r>
              <a:t>y opciones de pago.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Comenzamos?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651760"/>
            <a:ext cx="210312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0175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DDEE"/>
                </a:solidFill>
                <a:latin typeface="Calibri"/>
              </a:defRPr>
            </a:pPr>
            <a:r>
              <a:t>Estamos listos para transformar la operacion de GARYCIO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3931920"/>
            <a:ext cx="4846320" cy="182880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40690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E86AB"/>
                </a:solidFill>
                <a:latin typeface="Calibri"/>
              </a:defRPr>
            </a:pPr>
            <a:r>
              <a:t>RANUK DEVELOPMENT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4526280"/>
            <a:ext cx="210312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466344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ABBCC"/>
                </a:solidFill>
                <a:latin typeface="Calibri"/>
              </a:defRPr>
            </a:pPr>
            <a:r>
              <a:t>Desarrollo de Software a Medida</a:t>
            </a:r>
            <a:br/>
            <a:r>
              <a:t>Buenos Aires, Argentina</a:t>
            </a:r>
            <a:br/>
            <a:r>
              <a:t>Marzo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6601968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A9ABA"/>
                </a:solidFill>
                <a:latin typeface="Calibri"/>
              </a:defRPr>
            </a:pPr>
            <a:r>
              <a:t>Confidencial  |  Preparado exclusivamente para GARYCIO S.R.L.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